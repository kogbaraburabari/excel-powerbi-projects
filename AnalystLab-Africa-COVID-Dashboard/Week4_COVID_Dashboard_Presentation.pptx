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A3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2110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UNEVEN PANDEMIC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Speed A Population-Adjusted Look at Global COVID-19 Spread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Data Analytics Internship  ·  Week 4: Data Visualization &amp; Dashboarding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692640" y="548640"/>
            <a:ext cx="2011680" cy="2011680"/>
          </a:xfrm>
          <a:prstGeom prst="ellipse">
            <a:avLst/>
          </a:prstGeom>
          <a:solidFill>
            <a:srgbClr val="2B2B2B"/>
          </a:solidFill>
          <a:ln w="19050">
            <a:solidFill>
              <a:srgbClr val="5B9B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0" y="54864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😷</a:t>
            </a:r>
            <a:endParaRPr lang="en-US" sz="6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4578D2-8816-49DA-59CB-53970CCE6FC2}"/>
              </a:ext>
            </a:extLst>
          </p:cNvPr>
          <p:cNvSpPr txBox="1"/>
          <p:nvPr/>
        </p:nvSpPr>
        <p:spPr>
          <a:xfrm>
            <a:off x="2509737" y="3518655"/>
            <a:ext cx="3025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By Burabari Gift Kogbara</a:t>
            </a:r>
            <a:endParaRPr lang="en-NG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2B2B2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5087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Source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 Hopkins CSSE COVID-19 time series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(Confirmed &amp; Deaths, global)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383280" y="137160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2B2B2B"/>
          </a:solidFill>
          <a:ln/>
        </p:spPr>
      </p:sp>
      <p:sp>
        <p:nvSpPr>
          <p:cNvPr id="7" name="Text 5"/>
          <p:cNvSpPr/>
          <p:nvPr/>
        </p:nvSpPr>
        <p:spPr>
          <a:xfrm>
            <a:off x="3520440" y="15087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Source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20440" y="201168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population data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(SP.POP.TOTL, 2021 reference year)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2B2B2B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15087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63640" y="201168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countries/regions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22, 2020 – Mar 9, 2023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869680" y="137160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2B2B2B"/>
          </a:solidFill>
          <a:ln/>
        </p:spPr>
      </p:sp>
      <p:sp>
        <p:nvSpPr>
          <p:cNvPr id="13" name="Text 11"/>
          <p:cNvSpPr/>
          <p:nvPr/>
        </p:nvSpPr>
        <p:spPr>
          <a:xfrm>
            <a:off x="9006840" y="15087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006840" y="201168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+ Date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(collapsed from province-level rows)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3611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represents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397764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cumulative confirmed cases and deaths per country, merged with each country's total population to enable fair, size-adjusted comparison.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035040" y="3611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 this dashboard answers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35040" y="397764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countries were truly hit hardest, once population size is accounted for?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countries' outbreaks escalated fastest?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concentrated is global death toll among a handful of countries?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· Data Analytics Internship · Week 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2B2B2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case counts are misleading.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Headlines and dashboards built purely on totals over-represent large countries and under-represent smaller, harder-hit ones. Decision-makers need to know: adjusted for population, who was actually hit hardest and how fast did it happen?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10515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 and public health messaging based on raw totals can misdirect attention away from small nations facing proportionally severe outbreaks.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speed-to-outbreak (not just scale) helps distinguish geographic proximity effects from genuine policy failures.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concentrated view of severity (which countries drove global deaths) is essential for retrospective policy evaluation.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· Data Analytics Internship · Week 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Defined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2B2B2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81328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Confirmed / Total Deaths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938528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cumulative totals as of the latest reporting date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2B2B2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1481328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CFR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1938528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Fatality Rate Deaths ÷ Confirmed, worldwide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2B2B2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081528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per 100k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538728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cases normalized by population the core "fair comparison" metric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29718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2B2B2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3081528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Daily New Cases (+ per 100k)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3538728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worst reporting day, in absolute and population-adjusted terms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5720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2B2B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681728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First 1,000 Cases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5138928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quickly each country's outbreak reached four figures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45720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2B2B2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4681728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Growth Rate %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5138928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Day-over-day % change in cumulative cases momentum, not just volume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· Data Analytics Internship · Week 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Scale &amp; Speed</a:t>
            </a:r>
            <a:endParaRPr lang="en-US" sz="2600" dirty="0"/>
          </a:p>
        </p:txBody>
      </p:sp>
      <p:pic>
        <p:nvPicPr>
          <p:cNvPr id="3" name="Image 0" descr="dashboard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60120"/>
            <a:ext cx="11155680" cy="57881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· Data Analytics Internship · Week 4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Highlight: Adjusting for Population Changes the Ranking</a:t>
            </a:r>
            <a:endParaRPr lang="en-US" sz="2200" dirty="0"/>
          </a:p>
        </p:txBody>
      </p:sp>
      <p:pic>
        <p:nvPicPr>
          <p:cNvPr id="3" name="Image 0" descr="crop_per100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097280"/>
            <a:ext cx="7315200" cy="2898648"/>
          </a:xfrm>
          <a:prstGeom prst="rect">
            <a:avLst/>
          </a:prstGeom>
        </p:spPr>
      </p:pic>
      <p:pic>
        <p:nvPicPr>
          <p:cNvPr id="4" name="Image 1" descr="crop_don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097280"/>
            <a:ext cx="3291840" cy="262432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40080" y="4297680"/>
            <a:ext cx="10881360" cy="1828800"/>
          </a:xfrm>
          <a:prstGeom prst="roundRect">
            <a:avLst>
              <a:gd name="adj" fmla="val 4000"/>
            </a:avLst>
          </a:prstGeom>
          <a:solidFill>
            <a:srgbClr val="2B2B2B"/>
          </a:solidFill>
          <a:ln/>
        </p:spPr>
      </p:sp>
      <p:sp>
        <p:nvSpPr>
          <p:cNvPr id="6" name="Text 2"/>
          <p:cNvSpPr/>
          <p:nvPr/>
        </p:nvSpPr>
        <p:spPr>
          <a:xfrm>
            <a:off x="914400" y="448056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Marino, Austria, and Slovenia  not the US, India, or Brazil  top the per-capita ranking. Meanwhile, just 5 countries (US, Brazil, India, Russia, Mexico) account for over a third of deaths among top-reporting nations, showing severity is far more concentrated than case volume.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· Data Analytics Internship · Week 4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0881360" cy="1078992"/>
          </a:xfrm>
          <a:prstGeom prst="roundRect">
            <a:avLst>
              <a:gd name="adj" fmla="val 6780"/>
            </a:avLst>
          </a:prstGeom>
          <a:solidFill>
            <a:srgbClr val="2B2B2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50876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context reverses the story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1837944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case counts favor big countries by default. Adjusted per 100,000 people, small high-testing European nations rank highest — not the countries most associated with COVID in public memory.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2624328"/>
            <a:ext cx="10881360" cy="1078992"/>
          </a:xfrm>
          <a:prstGeom prst="roundRect">
            <a:avLst>
              <a:gd name="adj" fmla="val 6780"/>
            </a:avLst>
          </a:prstGeom>
          <a:solidFill>
            <a:srgbClr val="2B2B2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715768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reflects geography, not policy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044952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and its neighbors reached 1,000 cases fastest a function of proximity to the outbreak's origin, not a policy failure.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831336"/>
            <a:ext cx="10881360" cy="1078992"/>
          </a:xfrm>
          <a:prstGeom prst="roundRect">
            <a:avLst>
              <a:gd name="adj" fmla="val 6780"/>
            </a:avLst>
          </a:prstGeom>
          <a:solidFill>
            <a:srgbClr val="2B2B2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922776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is concentrated, not distributed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425196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five countries  US, Brazil, India, Russia, Mexico account for over a third of deaths among top-reporting nations, despite representing a fraction of global population and case count.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5038344"/>
            <a:ext cx="10881360" cy="1078992"/>
          </a:xfrm>
          <a:prstGeom prst="roundRect">
            <a:avLst>
              <a:gd name="adj" fmla="val 6780"/>
            </a:avLst>
          </a:prstGeom>
          <a:solidFill>
            <a:srgbClr val="2B2B2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129784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CFR stayed stable while volume swung wildly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5458968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Case Fatality Rate held near 1% throughout, even as case volume surged and receded across multiple waves  severity per infection stayed consistent even as transmission didn't.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· Data Analytics Internship · Week 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5B9BD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4173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population-adjusted metrics (cases/deaths per 100,000) over raw totals in public health reporting and resource allocation  raw counts systematically overstate impact in large countries and understate it in smaller, harder-hit ones.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5B9BD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28346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"days to outbreak" metrics with geographic context  proximity to an outbreak's origin should not be conflated with the strength or weakness of a country's response.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2976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5B9BD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42519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CFR as a stability indicator  a rising CFR alongside falling case volume would signal deteriorating care capacity, worth flagging early in future outbreaks.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· Data Analytics Internship · Week 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170432"/>
          </a:xfrm>
          <a:prstGeom prst="roundRect">
            <a:avLst>
              <a:gd name="adj" fmla="val 6250"/>
            </a:avLst>
          </a:prstGeom>
          <a:solidFill>
            <a:srgbClr val="2B2B2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6304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Locale-based date parsing errors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68680" y="1792224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JHU's M/D/YY date format initially failed to parse; fixed by explicitly setting US locale during type conversion rather than relying on system defaults.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670048"/>
            <a:ext cx="10881360" cy="1170432"/>
          </a:xfrm>
          <a:prstGeom prst="roundRect">
            <a:avLst>
              <a:gd name="adj" fmla="val 6250"/>
            </a:avLst>
          </a:prstGeom>
          <a:solidFill>
            <a:srgbClr val="2B2B2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761488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Cross-source country name mismatches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3090672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countries had different names between JHU and World Bank data (e.g., "US" vs. "United States", "Congo (Kinshasa)" vs. "Congo, Dem. Rep.")  resolved via manual value mapping.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968496"/>
            <a:ext cx="10881360" cy="1170432"/>
          </a:xfrm>
          <a:prstGeom prst="roundRect">
            <a:avLst>
              <a:gd name="adj" fmla="val 6250"/>
            </a:avLst>
          </a:prstGeom>
          <a:solidFill>
            <a:srgbClr val="2B2B2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059936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Flawed DAX from row-context bugs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68680" y="438912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initial "New Cases" formula produced impossible results (100M+ single-day cases) due to province-level rows breaking country-date matching; fixed by aggregating to one row per country/date before recalculating.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5266944"/>
            <a:ext cx="10881360" cy="1170432"/>
          </a:xfrm>
          <a:prstGeom prst="roundRect">
            <a:avLst>
              <a:gd name="adj" fmla="val 6250"/>
            </a:avLst>
          </a:prstGeom>
          <a:solidFill>
            <a:srgbClr val="2B2B2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358384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transition in nested CALCULATE()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68680" y="5687568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"days to peak" measure returned negative values due to CALCULATE() inside FILTER() collapsing filter context; resolved using ALLEXCEPT() to correctly scope calculations per country.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· Data Analytics Internship · Week 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881360" cy="2926080"/>
          </a:xfrm>
          <a:prstGeom prst="roundRect">
            <a:avLst>
              <a:gd name="adj" fmla="val 2500"/>
            </a:avLst>
          </a:prstGeom>
          <a:solidFill>
            <a:srgbClr val="2B2B2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7830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Scale, speed, and severity moved independently of each other across the pandemic  no single country's experience explains the global pattern.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78892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totals tell a story dominated by population size. Once adjusted, a very different set of countries emerges as truly hardest-hit. This distinction isn't academic  it directly shapes how resources, attention, and policy should be allocated in future public health crises.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846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5394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#AnalystLabAfrica  ·  Week 4 Capstone Dashboard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· Data Analytics Internship · Week 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1005</Words>
  <Application>Microsoft Office PowerPoint</Application>
  <PresentationFormat>Widescreen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Burabari Kogbara</cp:lastModifiedBy>
  <cp:revision>2</cp:revision>
  <dcterms:created xsi:type="dcterms:W3CDTF">2026-07-30T09:37:00Z</dcterms:created>
  <dcterms:modified xsi:type="dcterms:W3CDTF">2026-07-30T11:31:18Z</dcterms:modified>
</cp:coreProperties>
</file>